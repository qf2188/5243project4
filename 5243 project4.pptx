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Average"/>
      <p:regular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swald-regular.fntdata"/><Relationship Id="rId25" Type="http://schemas.openxmlformats.org/officeDocument/2006/relationships/font" Target="fonts/Average-regular.fntdata"/><Relationship Id="rId27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bc73c1f1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bc73c1f1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bc73c1f18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bc73c1f1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bcab6b14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bcab6b14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bbd3ad3c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bbd3ad3c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bbd3ad3c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bbd3ad3c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bbd3ad3c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bbd3ad3c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bbd3ad3c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bbd3ad3c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80f91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80f9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ba807adb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ba807ad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baecc858f_3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baecc858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c6f980f91_0_4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c6f980f9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c6f980f91_0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c6f980f9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c6f980f91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c6f980f9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ba807adba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ba807adb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bcc38ca02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bcc38ca0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Cleared for Takeoff: Predicting U.S. Flight Delays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 4,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Qixiang Fan, Qingyue Wang, Yiyu Chen, Zhuyun Jin, Omari Motta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42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Data Source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BTS Airline On-Time Performance Database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Data Coverage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January-March 2025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3 monthly files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Scale</a:t>
            </a:r>
            <a:endParaRPr b="1" sz="21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1823522 rows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23 columns</a:t>
            </a:r>
            <a:endParaRPr sz="1600"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463" y="3113146"/>
            <a:ext cx="3342474" cy="188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404900"/>
            <a:ext cx="8631300" cy="31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Fixed data types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Check duplicates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Missing values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Filled delay column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on-time flights: NaN -&gt; 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Flag extreme delays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791 flights with dealy &gt; 1000 min kept but marked IS_EXTREME_DEALY = 1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2850" y="687550"/>
            <a:ext cx="1884200" cy="18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Overview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explored the cleaned dataset to understand the main structure and delay patterns.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 dataset contains over 1.8 million flight records from January to March 2025. The main outcome is ARR_DEL15, which indicates whether a flight arrived at least 15 minutes late.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Our EDA focuses on target imbalance, time-based patterns, airport differences, and hidden operational profiles from unsupervised learning.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2" name="Google Shape;82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Number of rows: 1,823,522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Number of columns: 16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Number of carriers: 21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Number of origin airports: 353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Number of destination airports: 353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700"/>
              <a:t>Arrival delay rate: 19.7</a:t>
            </a:r>
            <a:r>
              <a:rPr lang="en" sz="1700"/>
              <a:t>%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Outcome Overview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43641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 first analyzed the delay outcome from both a classification and continuous-delay perspective.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 target variable ARR_DEL15 is imbalanced: around 80.3% of flights were not delayed by 15 minutes or more, while only 19.7% were delayed. This means accuracy alone may not be enough for model evaluation.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The arrival delay distribution also shows a clear right-skewed pattern. Most flights arrived early or close to schedule, but a smaller number of flights had long positive delays.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725" y="377850"/>
            <a:ext cx="3605950" cy="21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725" y="2571750"/>
            <a:ext cx="3605951" cy="223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by Departure Hour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Scheduled departure hour shows one of the clearest time-based delay patterns.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Early morning flights generally have lower arrival delay rates. Delay risk increases from late morning through the evening and reaches its highest level around 19:00.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This pattern reflect delay can build up throughout the day, such as aircraft rotation, crew scheduling, gate availability, and airport congestion.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563" y="1377500"/>
            <a:ext cx="4261574" cy="26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Delay Risk Varies Across Origin Airports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5038150" y="1017725"/>
            <a:ext cx="3947100" cy="3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Arrival delay rates also vary across origin airports.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To avoid unstable rates from very small airports, we focused on airports with at least 1,000 flights. The top airports have delay rates much higher than the overall average of 19.7%.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This suggests that airport-level factors, such as congestion, local weather exposure, traffic volume, and operational constraints, may affect delay risk.</a:t>
            </a:r>
            <a:endParaRPr sz="1600"/>
          </a:p>
        </p:txBody>
      </p:sp>
      <p:pic>
        <p:nvPicPr>
          <p:cNvPr id="104" name="Google Shape;10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50" y="1484925"/>
            <a:ext cx="4758775" cy="255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and K-Means Reveal Airport Delay Profiles</a:t>
            </a:r>
            <a:endParaRPr/>
          </a:p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311700" y="1478150"/>
            <a:ext cx="4068900" cy="30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Clustered origin airports based on delay-related patterns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Selected k = 2 because it had the highest silhouette score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Cluster 0: stable / lower-delay airports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Cluster 1: higher-disruption airports with higher delay rates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PCA was used to visualize the two airport profiles</a:t>
            </a:r>
            <a:endParaRPr sz="1600"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175" y="1017725"/>
            <a:ext cx="3634024" cy="28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 title="Screenshot 2026-05-03 at 20.06.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200" y="3990625"/>
            <a:ext cx="4763799" cy="7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Strategy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42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Feature Creation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Created route-level and calendar-based features to capture operational patterns.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Key Features: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ROUTE = origin + destination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DAY_OF_WEEK and IS_WEEKEND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Cyclic departure/ Arrival time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DISTANCE_BUCKET for haul categories</a:t>
            </a:r>
            <a:endParaRPr sz="1600"/>
          </a:p>
        </p:txBody>
      </p:sp>
      <p:sp>
        <p:nvSpPr>
          <p:cNvPr id="119" name="Google Shape;11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Model Readiness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Prepared a cleaner and more predictive feature set for downstream modeling.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Key Actions: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Removed leakage columns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Preserved useful numerical signals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Encoded categorical variables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Reduced redundant information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Preprocessing Pipeline</a:t>
            </a:r>
            <a:endParaRPr/>
          </a:p>
        </p:txBody>
      </p:sp>
      <p:grpSp>
        <p:nvGrpSpPr>
          <p:cNvPr id="125" name="Google Shape;125;p22"/>
          <p:cNvGrpSpPr/>
          <p:nvPr/>
        </p:nvGrpSpPr>
        <p:grpSpPr>
          <a:xfrm>
            <a:off x="424825" y="1253973"/>
            <a:ext cx="8294372" cy="799416"/>
            <a:chOff x="424813" y="1177875"/>
            <a:chExt cx="8294372" cy="849900"/>
          </a:xfrm>
        </p:grpSpPr>
        <p:sp>
          <p:nvSpPr>
            <p:cNvPr id="126" name="Google Shape;126;p22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22"/>
          <p:cNvSpPr txBox="1"/>
          <p:nvPr>
            <p:ph idx="4294967295" type="body"/>
          </p:nvPr>
        </p:nvSpPr>
        <p:spPr>
          <a:xfrm>
            <a:off x="42482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Split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22"/>
          <p:cNvSpPr txBox="1"/>
          <p:nvPr>
            <p:ph idx="4294967295" type="body"/>
          </p:nvPr>
        </p:nvSpPr>
        <p:spPr>
          <a:xfrm>
            <a:off x="3310203" y="125420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80/20 train-test split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Stratified by ARR_DEL15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30" name="Google Shape;130;p22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131" name="Google Shape;131;p22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2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22"/>
          <p:cNvSpPr txBox="1"/>
          <p:nvPr>
            <p:ph idx="4294967295" type="body"/>
          </p:nvPr>
        </p:nvSpPr>
        <p:spPr>
          <a:xfrm>
            <a:off x="503825" y="2127488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2.   </a:t>
            </a:r>
            <a:r>
              <a:rPr lang="en">
                <a:solidFill>
                  <a:schemeClr val="lt1"/>
                </a:solidFill>
              </a:rPr>
              <a:t>Transform Features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22"/>
          <p:cNvSpPr txBox="1"/>
          <p:nvPr>
            <p:ph idx="4294967295" type="body"/>
          </p:nvPr>
        </p:nvSpPr>
        <p:spPr>
          <a:xfrm>
            <a:off x="3310200" y="2129250"/>
            <a:ext cx="55878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Median imputation for numeric variables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Most-frequent imputation for categorical variables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35" name="Google Shape;135;p22"/>
          <p:cNvGrpSpPr/>
          <p:nvPr/>
        </p:nvGrpSpPr>
        <p:grpSpPr>
          <a:xfrm>
            <a:off x="424825" y="3000705"/>
            <a:ext cx="8294360" cy="799447"/>
            <a:chOff x="424813" y="2974405"/>
            <a:chExt cx="8294360" cy="849933"/>
          </a:xfrm>
        </p:grpSpPr>
        <p:sp>
          <p:nvSpPr>
            <p:cNvPr id="136" name="Google Shape;136;p22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2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2"/>
          <p:cNvSpPr txBox="1"/>
          <p:nvPr>
            <p:ph idx="4294967295" type="body"/>
          </p:nvPr>
        </p:nvSpPr>
        <p:spPr>
          <a:xfrm>
            <a:off x="503825" y="30008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3.   </a:t>
            </a:r>
            <a:r>
              <a:rPr lang="en">
                <a:solidFill>
                  <a:schemeClr val="lt1"/>
                </a:solidFill>
              </a:rPr>
              <a:t>Encode &amp; Scale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9" name="Google Shape;139;p22"/>
          <p:cNvSpPr txBox="1"/>
          <p:nvPr>
            <p:ph idx="4294967295" type="body"/>
          </p:nvPr>
        </p:nvSpPr>
        <p:spPr>
          <a:xfrm>
            <a:off x="3310203" y="300276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Standardized numeric features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One-hot encoded categorical features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40" name="Google Shape;140;p22"/>
          <p:cNvGrpSpPr/>
          <p:nvPr/>
        </p:nvGrpSpPr>
        <p:grpSpPr>
          <a:xfrm>
            <a:off x="424825" y="3874103"/>
            <a:ext cx="8294360" cy="799447"/>
            <a:chOff x="424813" y="3871259"/>
            <a:chExt cx="8294360" cy="849933"/>
          </a:xfrm>
        </p:grpSpPr>
        <p:sp>
          <p:nvSpPr>
            <p:cNvPr id="141" name="Google Shape;141;p22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2"/>
          <p:cNvSpPr txBox="1"/>
          <p:nvPr>
            <p:ph idx="4294967295" type="body"/>
          </p:nvPr>
        </p:nvSpPr>
        <p:spPr>
          <a:xfrm>
            <a:off x="503825" y="38741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4.   </a:t>
            </a:r>
            <a:r>
              <a:rPr lang="en">
                <a:solidFill>
                  <a:schemeClr val="lt1"/>
                </a:solidFill>
              </a:rPr>
              <a:t>Reduce &amp; Export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4" name="Google Shape;144;p22"/>
          <p:cNvSpPr txBox="1"/>
          <p:nvPr>
            <p:ph idx="4294967295" type="body"/>
          </p:nvPr>
        </p:nvSpPr>
        <p:spPr>
          <a:xfrm>
            <a:off x="331020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Removed high-correlation features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Exported train/test-ready datasets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22"/>
          <p:cNvSpPr txBox="1"/>
          <p:nvPr/>
        </p:nvSpPr>
        <p:spPr>
          <a:xfrm>
            <a:off x="862363" y="4675500"/>
            <a:ext cx="74193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Final Output:  1,427,517 training rows | 356,880 testing rows | 6,214 processed features</a:t>
            </a:r>
            <a:endParaRPr b="1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Comparison and Selection 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11700" y="1077769"/>
            <a:ext cx="3232800" cy="22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We first compared three candidate classification models: Logistic Regression, Random Forest, and XGBoost.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To make the comparison fair, we used 5-fold cross-validation on the training sample and evaluated each model using accuracy, precision, recall, F1 score, ROC-AUC, and runtime.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52" name="Google Shape;152;p23" title="Zhuyun_plo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8325" y="1152475"/>
            <a:ext cx="5422701" cy="2974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3735950" y="3541576"/>
            <a:ext cx="52851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9215D"/>
                </a:solidFill>
              </a:rPr>
              <a:t>5-fold cross-validation shows that XGBoost provides the best overall balance between predictive accuracy and classification quality.</a:t>
            </a:r>
            <a:endParaRPr sz="900">
              <a:solidFill>
                <a:srgbClr val="09215D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39474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24050" y="4266373"/>
            <a:ext cx="86970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Among the three models, XGBoost achieved the strongest overall performance, especially in CV F1 and ROC-AUC, so we selected it for further tuning and final evaluation.</a:t>
            </a:r>
            <a:endParaRPr sz="16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 Hyperparameter Tuning 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311700" y="1152475"/>
            <a:ext cx="486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After selecting XGBoost as the main model, we performed hyperparameter tuning to improve its performance.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tuning process tested different combinations of tree depth, learning rate, number of estimators, subsampling rate, column sampling rate, and child-weight constraints.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 final selected parameters were chosen based on cross-validation F1 score, because F1 balances precision and recall and is more informative than accuracy alone for delay prediction.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61" name="Google Shape;161;p24"/>
          <p:cNvSpPr txBox="1"/>
          <p:nvPr/>
        </p:nvSpPr>
        <p:spPr>
          <a:xfrm>
            <a:off x="5630713" y="4519272"/>
            <a:ext cx="33621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2"/>
                </a:solidFill>
              </a:rPr>
              <a:t>The best XGBoost setting was selected using cross-validation, with F1 score as the main optimization metric.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62" name="Google Shape;162;p24" title="Zhuyun_plo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038" y="992090"/>
            <a:ext cx="2965426" cy="3705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Model Performance 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6365766" y="641516"/>
            <a:ext cx="2605200" cy="464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The final model maintained strong test performance, showing that the tuning result generalized beyond the cross-validation sample.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Compared with the baseline models, the tuned XGBoost model provided the most reliable overall performance and became our final prediction model.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69" name="Google Shape;169;p25" title="Zhuyun_plot4.png"/>
          <p:cNvPicPr preferRelativeResize="0"/>
          <p:nvPr/>
        </p:nvPicPr>
        <p:blipFill rotWithShape="1">
          <a:blip r:embed="rId3">
            <a:alphaModFix/>
          </a:blip>
          <a:srcRect b="8442" l="0" r="0" t="0"/>
          <a:stretch/>
        </p:blipFill>
        <p:spPr>
          <a:xfrm>
            <a:off x="250585" y="1886304"/>
            <a:ext cx="5983624" cy="308329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230703" y="1170866"/>
            <a:ext cx="867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Using the selected hyperparameters, we trained the final XGBoost model on the full training set and evaluated it on the held-out test set.</a:t>
            </a:r>
            <a:endParaRPr sz="2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Evaluation of Tuned XGBoost </a:t>
            </a:r>
            <a:endParaRPr/>
          </a:p>
        </p:txBody>
      </p:sp>
      <p:sp>
        <p:nvSpPr>
          <p:cNvPr id="176" name="Google Shape;176;p26"/>
          <p:cNvSpPr txBox="1"/>
          <p:nvPr>
            <p:ph idx="4294967295" type="body"/>
          </p:nvPr>
        </p:nvSpPr>
        <p:spPr>
          <a:xfrm>
            <a:off x="311700" y="1152475"/>
            <a:ext cx="460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</a:rPr>
              <a:t>Findings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model correctly identifies a large number of non-delayed flights while also detecting many delayed flights, though some delayed flights are still misclassified as not delayed.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ROC curve shows strong discrimination ability, meaning the model can effectively rank flights by their likelihood of delay.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77" name="Google Shape;177;p26" title="person4_roc_curve_xgbo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500" y="1117484"/>
            <a:ext cx="3576799" cy="36212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5257100" y="4568879"/>
            <a:ext cx="35736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</a:rPr>
              <a:t>ROC curve confirms that the tuned XGBoost model has strong overall classification performance.</a:t>
            </a:r>
            <a:endParaRPr sz="1000">
              <a:solidFill>
                <a:schemeClr val="accent3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7" title="person4_confusion_matrix_xgbo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896" y="158750"/>
            <a:ext cx="6194998" cy="468444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7"/>
          <p:cNvSpPr txBox="1"/>
          <p:nvPr/>
        </p:nvSpPr>
        <p:spPr>
          <a:xfrm>
            <a:off x="813897" y="4633209"/>
            <a:ext cx="75162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500" lIns="88500" spcFirstLastPara="1" rIns="88500" wrap="square" tIns="885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162"/>
              </a:spcBef>
              <a:spcAft>
                <a:spcPts val="0"/>
              </a:spcAft>
              <a:buNone/>
            </a:pPr>
            <a:r>
              <a:rPr lang="en" sz="1059">
                <a:solidFill>
                  <a:srgbClr val="39474F"/>
                </a:solidFill>
              </a:rPr>
              <a:t>Confusion matrix shows the model’s correct and incorrect classifications for delayed and non-delayed flights.</a:t>
            </a:r>
            <a:endParaRPr sz="1059">
              <a:solidFill>
                <a:srgbClr val="39474F"/>
              </a:solidFill>
            </a:endParaRPr>
          </a:p>
          <a:p>
            <a:pPr indent="0" lvl="0" marL="0" rtl="0" algn="l">
              <a:spcBef>
                <a:spcPts val="1162"/>
              </a:spcBef>
              <a:spcAft>
                <a:spcPts val="0"/>
              </a:spcAft>
              <a:buNone/>
            </a:pPr>
            <a:r>
              <a:t/>
            </a:r>
            <a:endParaRPr sz="1259">
              <a:solidFill>
                <a:srgbClr val="39474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Our Final Model</a:t>
            </a:r>
            <a:endParaRPr/>
          </a:p>
        </p:txBody>
      </p:sp>
      <p:grpSp>
        <p:nvGrpSpPr>
          <p:cNvPr id="190" name="Google Shape;190;p28"/>
          <p:cNvGrpSpPr/>
          <p:nvPr/>
        </p:nvGrpSpPr>
        <p:grpSpPr>
          <a:xfrm>
            <a:off x="431956" y="1304900"/>
            <a:ext cx="2688339" cy="3416400"/>
            <a:chOff x="431925" y="1304875"/>
            <a:chExt cx="2628925" cy="3416400"/>
          </a:xfrm>
        </p:grpSpPr>
        <p:sp>
          <p:nvSpPr>
            <p:cNvPr id="191" name="Google Shape;191;p28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7825" lIns="97825" spcFirstLastPara="1" rIns="97825" wrap="square" tIns="97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8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7825" lIns="97825" spcFirstLastPara="1" rIns="97825" wrap="square" tIns="97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28"/>
          <p:cNvSpPr txBox="1"/>
          <p:nvPr>
            <p:ph idx="4294967295" type="body"/>
          </p:nvPr>
        </p:nvSpPr>
        <p:spPr>
          <a:xfrm>
            <a:off x="506425" y="1304875"/>
            <a:ext cx="26883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Outperformed all Models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4" name="Google Shape;194;p28"/>
          <p:cNvSpPr txBox="1"/>
          <p:nvPr>
            <p:ph idx="4294967295" type="body"/>
          </p:nvPr>
        </p:nvSpPr>
        <p:spPr>
          <a:xfrm>
            <a:off x="497700" y="1850300"/>
            <a:ext cx="2632500" cy="307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Highest accuracy (92.77%), precision (91.05%), and ROC-AUC (0.9373) on the held-out test set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F1 score of 0.793 — best balance of catching delayed flights without too many false alarms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195" name="Google Shape;195;p28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96" name="Google Shape;196;p28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" name="Google Shape;198;p28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Reliable and Efficient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9" name="Google Shape;199;p28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Tuning via 5-fold cross-validation </a:t>
            </a:r>
            <a:r>
              <a:rPr lang="en" sz="1600"/>
              <a:t>ensured the model learned real patterns,</a:t>
            </a:r>
            <a:r>
              <a:rPr lang="en" sz="1600"/>
              <a:t> not just memorized the training data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Fast inference (2.07s) — practical for real-world deployment</a:t>
            </a:r>
            <a:endParaRPr sz="1600"/>
          </a:p>
        </p:txBody>
      </p:sp>
      <p:grpSp>
        <p:nvGrpSpPr>
          <p:cNvPr id="200" name="Google Shape;200;p28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201" name="Google Shape;201;p28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8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8"/>
          <p:cNvSpPr txBox="1"/>
          <p:nvPr>
            <p:ph idx="4294967295" type="body"/>
          </p:nvPr>
        </p:nvSpPr>
        <p:spPr>
          <a:xfrm>
            <a:off x="6278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 Feature to Rule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4" name="Google Shape;204;p28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Excepteur sint occaecat cupidatat non proident, sunt in culpa qui officia deserunt mollit anim id est laborum.</a:t>
            </a:r>
            <a:endParaRPr sz="1600"/>
          </a:p>
        </p:txBody>
      </p:sp>
      <p:pic>
        <p:nvPicPr>
          <p:cNvPr id="205" name="Google Shape;205;p28" title="Screenshot 2026-05-03 at 10.15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2550" y="1749250"/>
            <a:ext cx="2632499" cy="299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>
            <p:ph type="title"/>
          </p:nvPr>
        </p:nvSpPr>
        <p:spPr>
          <a:xfrm>
            <a:off x="265500" y="1733850"/>
            <a:ext cx="4045200" cy="16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11" name="Google Shape;211;p29"/>
          <p:cNvSpPr txBox="1"/>
          <p:nvPr>
            <p:ph idx="2" type="body"/>
          </p:nvPr>
        </p:nvSpPr>
        <p:spPr>
          <a:xfrm>
            <a:off x="5098796" y="127562"/>
            <a:ext cx="4045200" cy="52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Departure delay is the strongest indicator — a flight already running late is very likely to arrive late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of day matters: evening flights carry significantly higher delay risk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Real-World Impact: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Airlines could use this model to proactively rebook passengers on high-risk flights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" name="Google Shape;217;p30"/>
          <p:cNvGrpSpPr/>
          <p:nvPr/>
        </p:nvGrpSpPr>
        <p:grpSpPr>
          <a:xfrm>
            <a:off x="424825" y="1253973"/>
            <a:ext cx="8294371" cy="799416"/>
            <a:chOff x="424813" y="1177875"/>
            <a:chExt cx="8294371" cy="849900"/>
          </a:xfrm>
        </p:grpSpPr>
        <p:sp>
          <p:nvSpPr>
            <p:cNvPr id="218" name="Google Shape;218;p30"/>
            <p:cNvSpPr/>
            <p:nvPr/>
          </p:nvSpPr>
          <p:spPr>
            <a:xfrm>
              <a:off x="2927684" y="1177875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424813" y="117787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" name="Google Shape;220;p30"/>
          <p:cNvSpPr txBox="1"/>
          <p:nvPr>
            <p:ph idx="4294967295" type="body"/>
          </p:nvPr>
        </p:nvSpPr>
        <p:spPr>
          <a:xfrm>
            <a:off x="42482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Limitation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30"/>
          <p:cNvSpPr txBox="1"/>
          <p:nvPr>
            <p:ph idx="4294967295" type="body"/>
          </p:nvPr>
        </p:nvSpPr>
        <p:spPr>
          <a:xfrm>
            <a:off x="3310203" y="1254208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No weather data included — a major real-world driver of delays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22" name="Google Shape;222;p30"/>
          <p:cNvGrpSpPr/>
          <p:nvPr/>
        </p:nvGrpSpPr>
        <p:grpSpPr>
          <a:xfrm>
            <a:off x="424825" y="2127339"/>
            <a:ext cx="8294360" cy="799416"/>
            <a:chOff x="424813" y="2075689"/>
            <a:chExt cx="8294360" cy="849900"/>
          </a:xfrm>
        </p:grpSpPr>
        <p:sp>
          <p:nvSpPr>
            <p:cNvPr id="223" name="Google Shape;223;p30"/>
            <p:cNvSpPr/>
            <p:nvPr/>
          </p:nvSpPr>
          <p:spPr>
            <a:xfrm>
              <a:off x="2927672" y="2075689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424813" y="207568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30"/>
          <p:cNvSpPr txBox="1"/>
          <p:nvPr>
            <p:ph idx="4294967295" type="body"/>
          </p:nvPr>
        </p:nvSpPr>
        <p:spPr>
          <a:xfrm>
            <a:off x="503825" y="2127488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Limitation</a:t>
            </a:r>
            <a:r>
              <a:rPr lang="en">
                <a:solidFill>
                  <a:schemeClr val="lt1"/>
                </a:solidFill>
              </a:rPr>
              <a:t> 2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30"/>
          <p:cNvSpPr txBox="1"/>
          <p:nvPr>
            <p:ph idx="4294967295" type="body"/>
          </p:nvPr>
        </p:nvSpPr>
        <p:spPr>
          <a:xfrm>
            <a:off x="3310200" y="2129250"/>
            <a:ext cx="54090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Model trained only on Q1 2025 — may not capture summer/holiday patterns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27" name="Google Shape;227;p30"/>
          <p:cNvGrpSpPr/>
          <p:nvPr/>
        </p:nvGrpSpPr>
        <p:grpSpPr>
          <a:xfrm>
            <a:off x="424825" y="3000705"/>
            <a:ext cx="8294360" cy="799447"/>
            <a:chOff x="424813" y="2974405"/>
            <a:chExt cx="8294360" cy="849933"/>
          </a:xfrm>
        </p:grpSpPr>
        <p:sp>
          <p:nvSpPr>
            <p:cNvPr id="228" name="Google Shape;228;p30"/>
            <p:cNvSpPr/>
            <p:nvPr/>
          </p:nvSpPr>
          <p:spPr>
            <a:xfrm>
              <a:off x="2927672" y="2974438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424813" y="2974405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30"/>
          <p:cNvSpPr txBox="1"/>
          <p:nvPr>
            <p:ph idx="4294967295" type="body"/>
          </p:nvPr>
        </p:nvSpPr>
        <p:spPr>
          <a:xfrm>
            <a:off x="503825" y="30008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Limitation</a:t>
            </a:r>
            <a:r>
              <a:rPr lang="en">
                <a:solidFill>
                  <a:schemeClr val="lt1"/>
                </a:solidFill>
              </a:rPr>
              <a:t> 3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1" name="Google Shape;231;p30"/>
          <p:cNvSpPr txBox="1"/>
          <p:nvPr>
            <p:ph idx="4294967295" type="body"/>
          </p:nvPr>
        </p:nvSpPr>
        <p:spPr>
          <a:xfrm>
            <a:off x="3310203" y="300276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19.7% delay class imbalance means missed delays (false negatives) remain a challenge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232" name="Google Shape;232;p30"/>
          <p:cNvGrpSpPr/>
          <p:nvPr/>
        </p:nvGrpSpPr>
        <p:grpSpPr>
          <a:xfrm>
            <a:off x="424825" y="3874103"/>
            <a:ext cx="8294360" cy="799447"/>
            <a:chOff x="424813" y="3871259"/>
            <a:chExt cx="8294360" cy="849933"/>
          </a:xfrm>
        </p:grpSpPr>
        <p:sp>
          <p:nvSpPr>
            <p:cNvPr id="233" name="Google Shape;233;p30"/>
            <p:cNvSpPr/>
            <p:nvPr/>
          </p:nvSpPr>
          <p:spPr>
            <a:xfrm>
              <a:off x="2927672" y="3871292"/>
              <a:ext cx="5791500" cy="8499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424813" y="3871259"/>
              <a:ext cx="3055800" cy="849900"/>
            </a:xfrm>
            <a:prstGeom prst="homePlate">
              <a:avLst>
                <a:gd fmla="val 26719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30"/>
          <p:cNvSpPr txBox="1"/>
          <p:nvPr>
            <p:ph idx="4294967295" type="body"/>
          </p:nvPr>
        </p:nvSpPr>
        <p:spPr>
          <a:xfrm>
            <a:off x="503825" y="38741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Limitation 4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6" name="Google Shape;236;p30"/>
          <p:cNvSpPr txBox="1"/>
          <p:nvPr>
            <p:ph idx="4294967295" type="body"/>
          </p:nvPr>
        </p:nvSpPr>
        <p:spPr>
          <a:xfrm>
            <a:off x="331020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Relies heavily on departure delay — limiting its usefulness for pre-departure prediction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Future Work</a:t>
            </a:r>
            <a:endParaRPr sz="4000"/>
          </a:p>
        </p:txBody>
      </p:sp>
      <p:sp>
        <p:nvSpPr>
          <p:cNvPr id="242" name="Google Shape;242;p31"/>
          <p:cNvSpPr txBox="1"/>
          <p:nvPr>
            <p:ph idx="4294967295" type="body"/>
          </p:nvPr>
        </p:nvSpPr>
        <p:spPr>
          <a:xfrm>
            <a:off x="4572000" y="1311400"/>
            <a:ext cx="460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Incorporate weather API data (NOAA) and holiday calendars as features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Extend to full-year data to capture seasonal effects</a:t>
            </a:r>
            <a:endParaRPr sz="2000"/>
          </a:p>
          <a:p>
            <a:pPr indent="-3556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Let airlines tune that threshold based on what's more costly to them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43" name="Google Shape;243;p31" title="Screenshot 2026-05-04 at 12.45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491738"/>
            <a:ext cx="4267200" cy="3055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